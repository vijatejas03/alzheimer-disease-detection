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ild_430_correc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57200"/>
            <a:ext cx="475488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" y="548640"/>
            <a:ext cx="6858000" cy="5303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0080"/>
            <a:ext cx="6400800" cy="347472"/>
          </a:xfrm>
          <a:prstGeom prst="rect">
            <a:avLst/>
          </a:prstGeom>
          <a:solidFill>
            <a:srgbClr val="00508C"/>
          </a:solidFill>
          <a:ln w="15240">
            <a:solidFill>
              <a:srgbClr val="00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6656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⚕  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430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Explainable Deep Learning-Based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459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Multi-Stage Alzheimer's Disease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488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Detection Using Brain MRI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788920"/>
            <a:ext cx="64008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28803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Alzheimer's Disease Detection &amp; Explainability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Team Members: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3675887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Parvati Revannavar  |  1VK23CS048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393192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Moulya S  |  1VK23CS042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1879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Priyadarshini K  |  1VK23CS051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44398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Vijaytejas A C  |  1VK23CS074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4800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Project Guide: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504748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Dr. Vidya A   |   Head of the Department, CSE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5376672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Vivekananda Institute of Technology  |  Academic Year 2025-26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623560"/>
            <a:ext cx="1280160" cy="292608"/>
          </a:xfrm>
          <a:prstGeom prst="rect">
            <a:avLst/>
          </a:prstGeom>
          <a:solidFill>
            <a:srgbClr val="EE4C2C"/>
          </a:solidFill>
          <a:ln w="15240">
            <a:solidFill>
              <a:srgbClr val="EE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66013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5623560"/>
            <a:ext cx="1280160" cy="292608"/>
          </a:xfrm>
          <a:prstGeom prst="rect">
            <a:avLst/>
          </a:prstGeom>
          <a:solidFill>
            <a:srgbClr val="7B2FB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566013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Grad-CAM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5623560"/>
            <a:ext cx="1280160" cy="292608"/>
          </a:xfrm>
          <a:prstGeom prst="rect">
            <a:avLst/>
          </a:prstGeom>
          <a:solidFill>
            <a:srgbClr val="FF4B4B"/>
          </a:solidFill>
          <a:ln w="1524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566013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623560"/>
            <a:ext cx="1280160" cy="292608"/>
          </a:xfrm>
          <a:prstGeom prst="rect">
            <a:avLst/>
          </a:prstGeom>
          <a:solidFill>
            <a:srgbClr val="3676BE"/>
          </a:solidFill>
          <a:ln w="15240">
            <a:solidFill>
              <a:srgbClr val="367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566013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Project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End-to-end pipeline: from raw brain MRI to explainable multi-model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141732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Brain MRI
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6,400 images
4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216" y="224028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8" y="1463040"/>
            <a:ext cx="141732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4248" y="157276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20116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Pre-
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2606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128×128
Grayscale JPEG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24028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1296" y="1463040"/>
            <a:ext cx="141732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57276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0116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Train/Val/
Test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606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70 / 15 / 15%
0 hash 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24028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9784" y="1463040"/>
            <a:ext cx="141732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1224" y="157276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116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3 CNN
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2606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MobileNetV2
EfficientNet-B0
ResNet-18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24028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48272" y="1463040"/>
            <a:ext cx="141732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157276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20116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Agreement
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2606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3-model
consensus
voting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224028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1463040"/>
            <a:ext cx="141732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157276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0116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Grad-CAM
XAI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606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Saliency
visualization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224028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85248" y="1463040"/>
            <a:ext cx="141732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157276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0968" y="201168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Streamlit
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968" y="2606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8-page
deployed UI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886200"/>
            <a:ext cx="2743200" cy="822960"/>
          </a:xfrm>
          <a:prstGeom prst="rect">
            <a:avLst/>
          </a:prstGeom>
          <a:solidFill>
            <a:srgbClr val="05284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913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6,400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315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Unique MRI images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886200"/>
            <a:ext cx="2743200" cy="822960"/>
          </a:xfrm>
          <a:prstGeom prst="rect">
            <a:avLst/>
          </a:prstGeom>
          <a:solidFill>
            <a:srgbClr val="05284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3913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315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CNN architectures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886200"/>
            <a:ext cx="2743200" cy="822960"/>
          </a:xfrm>
          <a:prstGeom prst="rect">
            <a:avLst/>
          </a:prstGeom>
          <a:solidFill>
            <a:srgbClr val="05284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913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98.44%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315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Peak test accuracy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3886200"/>
            <a:ext cx="2743200" cy="822960"/>
          </a:xfrm>
          <a:prstGeom prst="rect">
            <a:avLst/>
          </a:prstGeom>
          <a:solidFill>
            <a:srgbClr val="05284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3913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0.9991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315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Peak ROC-AUC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7132320" cy="658368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69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698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Alzheimer's disease is progressive &amp; irreversible — early detection is critical.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09928"/>
            <a:ext cx="7132320" cy="658368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196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1965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4-stage clinical classification: Non-Demented → Very Mild → Mild → Moderate Demented.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59736"/>
            <a:ext cx="7132320" cy="658368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694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946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Manual MRI interpretation is time-consuming and subject to inter-rater variability.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09544"/>
            <a:ext cx="7132320" cy="658368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19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1927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Single-model AI systems are opaque, untrustworthy for research review, and lack explainability.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59352"/>
            <a:ext cx="7132320" cy="658368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Severe class imbalance: Moderate class has only 64 samples vs 3,200 Non-Demented.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00600"/>
            <a:ext cx="7132320" cy="594360"/>
          </a:xfrm>
          <a:prstGeom prst="rect">
            <a:avLst/>
          </a:prstGeom>
          <a:solidFill>
            <a:srgbClr val="1A2A1A"/>
          </a:solidFill>
          <a:ln w="15240">
            <a:solidFill>
              <a:srgbClr val="00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892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C44"/>
                </a:solidFill>
              </a:rPr>
              <a:t>🤔  An AI should not classify everything you upload. Garbage in → garbage prediction. 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960120"/>
            <a:ext cx="4206240" cy="493776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051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Global Alzheimer's Burden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55M+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4780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People with dementia worldwide (2023)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60–70%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0723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Cases are Alzheimer's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611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3×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6667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Expected increase by 2050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FF"/>
                </a:solidFill>
              </a:rPr>
              <a:t>$1.3T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2611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Global annual care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539496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3949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🔬  Explainability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Most deep learning models are black-boxes. Clinicians and researchers
need to understand WHY a model predicts what it predicts.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05840"/>
            <a:ext cx="539496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5394960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BE"/>
                </a:solidFill>
              </a:rPr>
              <a:t>📊  Multi-Model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 single CNN can overfit or fail silently. A 3-model agreement
engine provides cross-validated consensus confidence.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46120"/>
            <a:ext cx="539496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246120"/>
            <a:ext cx="539496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</a:rPr>
              <a:t>⚖️  Class Imbalance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64 Moderate vs 3,200 Non-Demented samples. Standard accuracy
is misleading without weighted loss &amp; balanced metrics.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46120"/>
            <a:ext cx="539496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46120"/>
            <a:ext cx="53949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🛡️  Input Safety / OOD Rejection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84048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Real-world deployment requires input-domain safeguards.
Dog photos, chest CT scans → REJECTED before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5349240" cy="10058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02920" cy="1005840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Multi-Class MRI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Classify brain MRI scans into 4 Alzheimer's stages using 3 fine-tuned CNN architectures.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5349240" cy="10058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502920" cy="1005840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280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07899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Explainability via Grad-CAM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4447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Generate Gradient-weighted Class Activation Maps for model attribution and research transparency.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12848"/>
            <a:ext cx="5349240" cy="10058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212848"/>
            <a:ext cx="502920" cy="1005840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87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860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3-Model Agreement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651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Implement consensus voting across MobileNetV2, EfficientNet-B0, ResNet-18 for reliability.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212848"/>
            <a:ext cx="5349240" cy="10058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212848"/>
            <a:ext cx="502920" cy="1005840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487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2860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Calibration &amp; 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651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Apply temperature scaling; report ECE, Brier score and per-image confidence calibration.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19856"/>
            <a:ext cx="5349240" cy="10058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419856"/>
            <a:ext cx="502920" cy="1005840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9417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930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Robustness Stress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85876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Evaluate performance under noise, blur, brightness/contrast shifts and rotation perturbations.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419856"/>
            <a:ext cx="5349240" cy="10058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419856"/>
            <a:ext cx="502920" cy="1005840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69417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4930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Input-Domain Safeguard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85876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Reject OOD inputs (non-brain images) before inference using 8-stage domain screening pipeline.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Selected prior works in CNN-based Alzheimer's MRI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920240" cy="347472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225296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Paper /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188720"/>
            <a:ext cx="1371600" cy="347472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9424" y="1225296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188720"/>
            <a:ext cx="1371600" cy="347472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225296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188720"/>
            <a:ext cx="4023360" cy="347472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2624" y="1225296"/>
            <a:ext cx="3913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Main Contribution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188720"/>
            <a:ext cx="2743200" cy="347472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5984" y="1225296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Limitation /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36192"/>
            <a:ext cx="192024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572768"/>
            <a:ext cx="1810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Farooq et al., 2017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536192"/>
            <a:ext cx="13716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9424" y="1572768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ADNI MRI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1536192"/>
            <a:ext cx="13716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572768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4-layer CNN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536192"/>
            <a:ext cx="402336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1572768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Early CNN for 4-class AD classification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536192"/>
            <a:ext cx="27432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5984" y="1572768"/>
            <a:ext cx="2633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Small dataset; no explainability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12848"/>
            <a:ext cx="192024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2249424"/>
            <a:ext cx="1810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Wen et al., 2020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2212848"/>
            <a:ext cx="137160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49424" y="2249424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ADNI (3D MRI)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2212848"/>
            <a:ext cx="137160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2249424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3D CNN / SVM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212848"/>
            <a:ext cx="402336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92624" y="2249424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Benchmark for 3D vs 2D MRI classification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2212848"/>
            <a:ext cx="274320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5984" y="2249424"/>
            <a:ext cx="2633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Computationally expensive; no mobile 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889504"/>
            <a:ext cx="192024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2926080"/>
            <a:ext cx="1810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Shanmugam et al., 2022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2889504"/>
            <a:ext cx="13716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9424" y="2926080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Kaggle MRI dataset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2889504"/>
            <a:ext cx="13716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21024" y="2926080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ResNet-50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2889504"/>
            <a:ext cx="402336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92624" y="2926080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Transfer learning for AD staging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2889504"/>
            <a:ext cx="27432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15984" y="2926080"/>
            <a:ext cx="2633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Single model; no uncertainty or calibration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566160"/>
            <a:ext cx="192024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" y="3602736"/>
            <a:ext cx="1810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Islam &amp; Zhang, 2018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94560" y="3566160"/>
            <a:ext cx="137160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9424" y="3602736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OASIS MRI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66160" y="3566160"/>
            <a:ext cx="137160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21024" y="3602736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AlexNet / VGG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3566160"/>
            <a:ext cx="402336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92624" y="3602736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Multi-class transfer learning with data augmentation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3566160"/>
            <a:ext cx="274320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15984" y="3602736"/>
            <a:ext cx="2633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No explainability; imbalance not addressed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242816"/>
            <a:ext cx="192024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4279392"/>
            <a:ext cx="1810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Spasov et al., 2019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94560" y="4242816"/>
            <a:ext cx="13716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49424" y="4279392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ADNI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4242816"/>
            <a:ext cx="13716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21024" y="4279392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CNN + LSTM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4242816"/>
            <a:ext cx="402336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92624" y="4279392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MCI-to-AD conversion prediction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0" y="4242816"/>
            <a:ext cx="274320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15984" y="4279392"/>
            <a:ext cx="2633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Binary task only; no multi-stage classification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919472"/>
            <a:ext cx="192024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9184" y="4956048"/>
            <a:ext cx="18105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Odusami et al., 2021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94560" y="4919472"/>
            <a:ext cx="137160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9424" y="4956048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OASIS / ADNI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66160" y="4919472"/>
            <a:ext cx="137160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21024" y="4956048"/>
            <a:ext cx="1261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ResNet + Grad-CAM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4919472"/>
            <a:ext cx="402336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92624" y="4956048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Grad-CAM XAI applied to AD MRI prediction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61120" y="4919472"/>
            <a:ext cx="2743200" cy="64008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15984" y="4956048"/>
            <a:ext cx="2633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Single model; limited robustness analysis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715000"/>
            <a:ext cx="11521440" cy="457200"/>
          </a:xfrm>
          <a:prstGeom prst="rect">
            <a:avLst/>
          </a:prstGeom>
          <a:solidFill>
            <a:srgbClr val="1A0A2A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576072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B2FBE"/>
                </a:solidFill>
              </a:rPr>
              <a:t>🔍  Research Gap: None of the above studies combine 3-model consensus, temperature calibration, Grad-CAM XAI, robustness stress-testing, and OOD rejection in a single deployable research system.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Reference / Baseline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Typical single-model MRI classification pipeline used as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554480" cy="128016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🧠
MRI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1554480" cy="1280160"/>
          </a:xfrm>
          <a:prstGeom prst="rect">
            <a:avLst/>
          </a:prstGeom>
          <a:solidFill>
            <a:srgbClr val="0D1B3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417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CCCC"/>
                </a:solidFill>
              </a:rPr>
              <a:t>↓
Basic
Resizing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280160"/>
            <a:ext cx="1554480" cy="1280160"/>
          </a:xfrm>
          <a:prstGeom prst="rect">
            <a:avLst/>
          </a:prstGeom>
          <a:solidFill>
            <a:srgbClr val="0D1B3E"/>
          </a:solidFill>
          <a:ln w="15240">
            <a:solidFill>
              <a:srgbClr val="88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8FF"/>
                </a:solidFill>
              </a:rPr>
              <a:t>↓
Single CNN
(ResNet / VGG)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1554480" cy="1280160"/>
          </a:xfrm>
          <a:prstGeom prst="rect">
            <a:avLst/>
          </a:prstGeom>
          <a:solidFill>
            <a:srgbClr val="0D1B3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CCCC"/>
                </a:solidFill>
              </a:rPr>
              <a:t>↓
Softmax
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1554480" cy="1280160"/>
          </a:xfrm>
          <a:prstGeom prst="rect">
            <a:avLst/>
          </a:prstGeom>
          <a:solidFill>
            <a:srgbClr val="0D1B3E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↓
Flask/Static
Web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1280160"/>
            <a:ext cx="1554480" cy="128016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1417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↓
Predicted
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80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C4C"/>
                </a:solidFill>
              </a:rPr>
              <a:t>Limitations of the Reference Approach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37560"/>
            <a:ext cx="5577840" cy="502920"/>
          </a:xfrm>
          <a:prstGeom prst="rect">
            <a:avLst/>
          </a:prstGeom>
          <a:solidFill>
            <a:srgbClr val="2A0A0A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4198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❌  Single model — no cross-validation or consensus confidence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337560"/>
            <a:ext cx="5577840" cy="502920"/>
          </a:xfrm>
          <a:prstGeom prst="rect">
            <a:avLst/>
          </a:prstGeom>
          <a:solidFill>
            <a:srgbClr val="2A0A0A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4198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❌  No explainability (black-box prediction)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04488"/>
            <a:ext cx="5577840" cy="502920"/>
          </a:xfrm>
          <a:prstGeom prst="rect">
            <a:avLst/>
          </a:prstGeom>
          <a:solidFill>
            <a:srgbClr val="2A0A0A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9867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❌  No calibration — confidence scores are uncalibrated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904488"/>
            <a:ext cx="5577840" cy="502920"/>
          </a:xfrm>
          <a:prstGeom prst="rect">
            <a:avLst/>
          </a:prstGeom>
          <a:solidFill>
            <a:srgbClr val="2A0A0A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39867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❌  No robustness testing under image perturbations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71416"/>
            <a:ext cx="5577840" cy="502920"/>
          </a:xfrm>
          <a:prstGeom prst="rect">
            <a:avLst/>
          </a:prstGeom>
          <a:solidFill>
            <a:srgbClr val="2A0A0A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553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❌  No input-domain safeguard — accepts any uploaded image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471416"/>
            <a:ext cx="5577840" cy="502920"/>
          </a:xfrm>
          <a:prstGeom prst="rect">
            <a:avLst/>
          </a:prstGeom>
          <a:solidFill>
            <a:srgbClr val="2A0A0A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4553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❌  No uncertainty quantification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Research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87552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960120"/>
            <a:ext cx="2651760" cy="347472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76672" y="987552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Typical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960120"/>
            <a:ext cx="4114800" cy="347472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2" y="987552"/>
            <a:ext cx="3968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This Research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07592"/>
            <a:ext cx="5029200" cy="5120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389888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Multi-class 4-stage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307592"/>
            <a:ext cx="2651760" cy="5120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3990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C4C"/>
                </a:solidFill>
              </a:rPr>
              <a:t>❌  Partial / None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307592"/>
            <a:ext cx="4114800" cy="512064"/>
          </a:xfrm>
          <a:prstGeom prst="rect">
            <a:avLst/>
          </a:prstGeom>
          <a:solidFill>
            <a:srgbClr val="0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39903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✅  Implemented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47088"/>
            <a:ext cx="5029200" cy="512064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1929384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3-model consensus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47088"/>
            <a:ext cx="2651760" cy="512064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93852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C4C"/>
                </a:solidFill>
              </a:rPr>
              <a:t>❌  Partial / 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1847088"/>
            <a:ext cx="4114800" cy="512064"/>
          </a:xfrm>
          <a:prstGeom prst="rect">
            <a:avLst/>
          </a:prstGeom>
          <a:solidFill>
            <a:srgbClr val="0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93852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✅  Implemented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86584"/>
            <a:ext cx="5029200" cy="5120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468880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Grad-CAM explainability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386584"/>
            <a:ext cx="2651760" cy="5120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47802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C4C"/>
                </a:solidFill>
              </a:rPr>
              <a:t>❌  Partial / None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2386584"/>
            <a:ext cx="4114800" cy="512064"/>
          </a:xfrm>
          <a:prstGeom prst="rect">
            <a:avLst/>
          </a:prstGeom>
          <a:solidFill>
            <a:srgbClr val="0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47802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✅  Implemented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26080"/>
            <a:ext cx="5029200" cy="512064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008376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Temperature calibration (ECE/Brier)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926080"/>
            <a:ext cx="2651760" cy="512064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301752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C4C"/>
                </a:solidFill>
              </a:rPr>
              <a:t>❌  Partial / 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2926080"/>
            <a:ext cx="4114800" cy="512064"/>
          </a:xfrm>
          <a:prstGeom prst="rect">
            <a:avLst/>
          </a:prstGeom>
          <a:solidFill>
            <a:srgbClr val="0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301752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✅  Implemented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65576"/>
            <a:ext cx="5029200" cy="5120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547872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Robustness stress testing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3465576"/>
            <a:ext cx="2651760" cy="5120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355701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C4C"/>
                </a:solidFill>
              </a:rPr>
              <a:t>❌  Partial / None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3465576"/>
            <a:ext cx="4114800" cy="512064"/>
          </a:xfrm>
          <a:prstGeom prst="rect">
            <a:avLst/>
          </a:prstGeom>
          <a:solidFill>
            <a:srgbClr val="0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355701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✅  Implemented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005072"/>
            <a:ext cx="5029200" cy="512064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087368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OOD / input-domain safeguard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005072"/>
            <a:ext cx="2651760" cy="512064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409651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C4C"/>
                </a:solidFill>
              </a:rPr>
              <a:t>❌  Partial / None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4005072"/>
            <a:ext cx="4114800" cy="512064"/>
          </a:xfrm>
          <a:prstGeom prst="rect">
            <a:avLst/>
          </a:prstGeom>
          <a:solidFill>
            <a:srgbClr val="0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409651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✅  Implemented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544568"/>
            <a:ext cx="5029200" cy="5120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4626864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Deployable web application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4544568"/>
            <a:ext cx="2651760" cy="5120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60" y="46360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C4C"/>
                </a:solidFill>
              </a:rPr>
              <a:t>❌  Partial / None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4544568"/>
            <a:ext cx="4114800" cy="512064"/>
          </a:xfrm>
          <a:prstGeom prst="rect">
            <a:avLst/>
          </a:prstGeom>
          <a:solidFill>
            <a:srgbClr val="0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463600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✅  Implemented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084064"/>
            <a:ext cx="5029200" cy="512064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5166360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 Open-source reproducible research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0" y="5084064"/>
            <a:ext cx="2651760" cy="512064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0" y="517550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C4C"/>
                </a:solidFill>
              </a:rPr>
              <a:t>❌  Partial / None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0" y="5084064"/>
            <a:ext cx="4114800" cy="512064"/>
          </a:xfrm>
          <a:prstGeom prst="rect">
            <a:avLst/>
          </a:prstGeom>
          <a:solidFill>
            <a:srgbClr val="0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0" y="517550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✅  Implemented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Proposed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417320" cy="219456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1417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" cy="256032"/>
          </a:xfrm>
          <a:prstGeom prst="rect">
            <a:avLst/>
          </a:prstGeom>
          <a:solidFill>
            <a:srgbClr val="00D4F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9576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" y="1481328"/>
            <a:ext cx="1307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Brain MRI
(User upload
or demo scan)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19659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7088" y="1051560"/>
            <a:ext cx="1417320" cy="2194560"/>
          </a:xfrm>
          <a:prstGeom prst="rect">
            <a:avLst/>
          </a:prstGeom>
          <a:solidFill>
            <a:srgbClr val="0D1B3E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47088" y="1051560"/>
            <a:ext cx="141732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4248" y="1143000"/>
            <a:ext cx="1143000" cy="256032"/>
          </a:xfrm>
          <a:prstGeom prst="rect">
            <a:avLst/>
          </a:prstGeom>
          <a:solidFill>
            <a:srgbClr val="FFD70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1179576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1481328"/>
            <a:ext cx="1307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8-Stage
Domain
Screening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700"/>
                </a:solidFill>
              </a:rPr>
              <a:t>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65576" y="1051560"/>
            <a:ext cx="1417320" cy="2194560"/>
          </a:xfrm>
          <a:prstGeom prst="rect">
            <a:avLst/>
          </a:prstGeom>
          <a:solidFill>
            <a:srgbClr val="0D1B3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5576" y="1051560"/>
            <a:ext cx="1417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2736" y="1143000"/>
            <a:ext cx="1143000" cy="256032"/>
          </a:xfrm>
          <a:prstGeom prst="rect">
            <a:avLst/>
          </a:prstGeom>
          <a:solidFill>
            <a:srgbClr val="CCCCCC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8456" y="1179576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PREPROCESS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1481328"/>
            <a:ext cx="1307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Resize 128×128
Normalize
Grayscale→RGB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19659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4064" y="1051560"/>
            <a:ext cx="1417320" cy="2194560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051560"/>
            <a:ext cx="1417320" cy="457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21224" y="1143000"/>
            <a:ext cx="1143000" cy="256032"/>
          </a:xfrm>
          <a:prstGeom prst="rect">
            <a:avLst/>
          </a:prstGeom>
          <a:solidFill>
            <a:srgbClr val="7B2FB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6944" y="1179576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1481328"/>
            <a:ext cx="1307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MobileNetV2
+
EfficientNet-B0
+
ResNet-18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19659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B2FBE"/>
                </a:solidFill>
              </a:rPr>
              <a:t>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02552" y="1051560"/>
            <a:ext cx="1417320" cy="2194560"/>
          </a:xfrm>
          <a:prstGeom prst="rect">
            <a:avLst/>
          </a:prstGeom>
          <a:solidFill>
            <a:srgbClr val="0D1B3E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2552" y="1051560"/>
            <a:ext cx="14173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39712" y="1143000"/>
            <a:ext cx="1143000" cy="256032"/>
          </a:xfrm>
          <a:prstGeom prst="rect">
            <a:avLst/>
          </a:prstGeom>
          <a:solidFill>
            <a:srgbClr val="FF8C00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85432" y="1179576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6" y="1481328"/>
            <a:ext cx="1307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3-Model
Agreement
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4" y="19659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8C00"/>
                </a:solidFill>
              </a:rPr>
              <a:t>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1051560"/>
            <a:ext cx="1417320" cy="2194560"/>
          </a:xfrm>
          <a:prstGeom prst="rect">
            <a:avLst/>
          </a:prstGeom>
          <a:solidFill>
            <a:srgbClr val="0D1B3E"/>
          </a:solidFill>
          <a:ln w="1524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1051560"/>
            <a:ext cx="1417320" cy="457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58200" y="1143000"/>
            <a:ext cx="1143000" cy="256032"/>
          </a:xfrm>
          <a:prstGeom prst="rect">
            <a:avLst/>
          </a:prstGeom>
          <a:solidFill>
            <a:srgbClr val="00BFFF"/>
          </a:solidFill>
          <a:ln w="1524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1179576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1481328"/>
            <a:ext cx="1307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Grad-CAM
Saliency Map
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19659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FFF"/>
                </a:solidFill>
              </a:rPr>
              <a:t>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39528" y="1051560"/>
            <a:ext cx="1417320" cy="219456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39528" y="1051560"/>
            <a:ext cx="1417320" cy="457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76688" y="1143000"/>
            <a:ext cx="1143000" cy="256032"/>
          </a:xfrm>
          <a:prstGeom prst="rect">
            <a:avLst/>
          </a:prstGeom>
          <a:solidFill>
            <a:srgbClr val="00E576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22408" y="1179576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94392" y="1481328"/>
            <a:ext cx="1307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Prediction
Probabilities
Uncertainty
Calibration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C4C"/>
                </a:solidFill>
              </a:rPr>
              <a:t>⛔ OOD / Non-Brain Image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31821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4C4C"/>
                </a:solidFill>
              </a:rPr>
              <a:t>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749039"/>
            <a:ext cx="3200400" cy="777240"/>
          </a:xfrm>
          <a:prstGeom prst="rect">
            <a:avLst/>
          </a:prstGeom>
          <a:solidFill>
            <a:srgbClr val="2A0A0A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822191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4C4C"/>
                </a:solidFill>
              </a:rPr>
              <a:t>🚫  "Input rejected"
This image does not appear to be a suitable brain MRI.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3611880"/>
            <a:ext cx="2651760" cy="868680"/>
          </a:xfrm>
          <a:prstGeom prst="rect">
            <a:avLst/>
          </a:prstGeom>
          <a:solidFill>
            <a:srgbClr val="0D1B3E"/>
          </a:solidFill>
          <a:ln w="1524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0" y="36576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B4B"/>
                </a:solidFill>
              </a:rPr>
              <a:t>Streamlit UI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40" y="40050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8-page web
application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611880"/>
            <a:ext cx="2651760" cy="868680"/>
          </a:xfrm>
          <a:prstGeom prst="rect">
            <a:avLst/>
          </a:prstGeom>
          <a:solidFill>
            <a:srgbClr val="0D1B3E"/>
          </a:solidFill>
          <a:ln w="15240">
            <a:solidFill>
              <a:srgbClr val="EE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36576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4C2C"/>
                </a:solidFill>
              </a:rPr>
              <a:t>PyTorch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0050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CUDA 12.4
AMP training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611880"/>
            <a:ext cx="2651760" cy="868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36576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Temp. Scaling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40050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ECE / Brier
calibration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161520" y="3611880"/>
            <a:ext cx="2651760" cy="868680"/>
          </a:xfrm>
          <a:prstGeom prst="rect">
            <a:avLst/>
          </a:prstGeom>
          <a:solidFill>
            <a:srgbClr val="0D1B3E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252960" y="36576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Robustness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252960" y="40050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5 perturbation
categories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029200" cy="52120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00D4FF"/>
                </a:solidFill>
              </a:rPr>
              <a:t>6,400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1521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Total unique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57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00E576"/>
                </a:solidFill>
              </a:rPr>
              <a:t>3,200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11226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Non-Demented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FFD700"/>
                </a:solidFill>
              </a:rPr>
              <a:t>2,240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0723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Very Mild Demented (35%)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FF8C00"/>
                </a:solidFill>
              </a:rPr>
              <a:t>896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03250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Mild Demented (14%)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FF4C4C"/>
                </a:solidFill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9926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Moderate Demented (1%)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960120"/>
            <a:ext cx="6217920" cy="23774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051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📁  Image Format &amp; Acquisition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46304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Resolution: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46304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128 × 128 pixels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81051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Format: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81051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JPEG (grayscale)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15798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Channels: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15798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 (grayscale) → 3 (RGB replicated for CNNs)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50545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Source: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50545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Kaggle Alzheimer's MRI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85292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Augmentation: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85292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None (original images used)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520440"/>
            <a:ext cx="6217920" cy="265176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3611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🔀  Train / Validation / Test Split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4069080"/>
            <a:ext cx="1828800" cy="1554480"/>
          </a:xfrm>
          <a:prstGeom prst="rect">
            <a:avLst/>
          </a:prstGeom>
          <a:solidFill>
            <a:srgbClr val="05284A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76"/>
                </a:solidFill>
              </a:rPr>
              <a:t>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956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4,480 images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4069080"/>
            <a:ext cx="1828800" cy="1554480"/>
          </a:xfrm>
          <a:prstGeom prst="rect">
            <a:avLst/>
          </a:prstGeom>
          <a:solidFill>
            <a:srgbClr val="05284A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700"/>
                </a:solidFill>
              </a:rPr>
              <a:t>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956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960 images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4069080"/>
            <a:ext cx="1828800" cy="1554480"/>
          </a:xfrm>
          <a:prstGeom prst="rect">
            <a:avLst/>
          </a:prstGeom>
          <a:solidFill>
            <a:srgbClr val="05284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</a:rP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4956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960 images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852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E576"/>
                </a:solidFill>
              </a:rPr>
              <a:t>✅  0 hash-overlap between splits — guaranteed no data leakage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Data Preprocessing &amp; Stratified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691640" cy="18288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459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Load Raw MRI
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JPEG files from
4 class directories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3976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051560"/>
            <a:ext cx="1691640" cy="18288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143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6459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Hash-Based
Dedup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1488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SHA-256 fingerprint
per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936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1691640" cy="18288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43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✂️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6459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Stratified
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488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Sklearn train_test_split
stratify=True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051560"/>
            <a:ext cx="1691640" cy="18288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143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6459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Resize &amp;
Normalize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488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128×128 px
ImageNet μ / 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051560"/>
            <a:ext cx="1691640" cy="18288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143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6459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Replicate
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488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Grayscale → 3-ch RGB
for pretrained CNNs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7816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1051560"/>
            <a:ext cx="1691640" cy="18288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1143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6459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Feed to
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1488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DataLoader
batch_size=16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154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Key Guarantees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566160"/>
            <a:ext cx="11430000" cy="4572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6118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0 hash-overlapping samples across Train/Val/Test splits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078224"/>
            <a:ext cx="11430000" cy="4572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12394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Stratified split preserves class distribution ratios in all three sets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590288"/>
            <a:ext cx="11430000" cy="4572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63600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Random seed = 42 for full reproducibility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02352"/>
            <a:ext cx="11430000" cy="4572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14807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No external augmentation — model learns from original clinical-style distribution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614416"/>
            <a:ext cx="11430000" cy="4572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66013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Normalization: mean=[0.485, 0.456, 0.406], std=[0.229, 0.224, 0.225] (ImageNet)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Class Imbalance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943600" cy="47548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Class Distribution (Training 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554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Non-Demented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508760"/>
            <a:ext cx="3931920" cy="4114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6752" y="15544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</a:rPr>
              <a:t>~3,136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51460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Very Mild Demented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468880"/>
            <a:ext cx="2764631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9463" y="25146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~2,205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4747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Mild Demented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429000"/>
            <a:ext cx="786133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0965" y="3474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~627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4348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Moderate Demented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4389120"/>
            <a:ext cx="56421" cy="41148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1253" y="44348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C4C"/>
                </a:solidFill>
              </a:rPr>
              <a:t>~45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1206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</a:rPr>
              <a:t>⚠️  50× imbalance: 3,200 Non-Dem vs 64 Moderate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54864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8C00"/>
                </a:solidFill>
              </a:rPr>
              <a:t>😅  Accuracy alone can sometimes tell a very incomplete story. 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960120"/>
            <a:ext cx="5394960" cy="47548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005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Techniques Applied to Address Imbalance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463040"/>
            <a:ext cx="5394960" cy="914400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5270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⚖️  Weighted Cross-Entropy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874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Per-class weights inversely proportional to
class frequency: w_c = N / (C × n_c)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468880"/>
            <a:ext cx="5394960" cy="914400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32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📊  Balanced Accuracy &amp; MCC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80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Macro-averaged balanced accuracy &amp; Matthews
Correlation Coefficient alongside standard 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474720"/>
            <a:ext cx="5394960" cy="914400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5387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🎯  Per-Class F1 Scores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Individual class F1 reported; Moderate class
achieves 1.0 F1 for EfficientNet &amp; ResNet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480560"/>
            <a:ext cx="5394960" cy="914400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5445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📈  Stratified Splits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92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All splits preserve class ratio —
Moderate Demented: 9 samples in test 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Model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749039" cy="47548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3749039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88136"/>
            <a:ext cx="352958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⚡  MobileNetV2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554480"/>
            <a:ext cx="3529583" cy="274320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91056"/>
            <a:ext cx="34381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2,228,996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6596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</a:rPr>
              <a:t>Backbone: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21992"/>
            <a:ext cx="3529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Inverted Residual Blocks
Depthwise Separable Conv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9748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</a:rPr>
              <a:t>Head: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53512"/>
            <a:ext cx="3529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Adaptive AvgPool → Dropout → Linear(4)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42900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</a:rPr>
              <a:t>Strength: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85032"/>
            <a:ext cx="3529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Lightweight, mobile-friendly, fast inference (2.93ms/img)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937760"/>
            <a:ext cx="3749039" cy="777240"/>
          </a:xfrm>
          <a:prstGeom prst="rect">
            <a:avLst/>
          </a:prstGeom>
          <a:solidFill>
            <a:srgbClr val="05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965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965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D4FF"/>
                </a:solidFill>
              </a:rPr>
              <a:t>93.13%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2852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Macro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5285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D4FF"/>
                </a:solidFill>
              </a:rPr>
              <a:t>94.34%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960120"/>
            <a:ext cx="3749039" cy="4754880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960120"/>
            <a:ext cx="3749039" cy="7315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1088136"/>
            <a:ext cx="352958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FBE"/>
                </a:solidFill>
              </a:rPr>
              <a:t>🏆  EfficientNet-B0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7" y="1554480"/>
            <a:ext cx="3529583" cy="274320"/>
          </a:xfrm>
          <a:prstGeom prst="rect">
            <a:avLst/>
          </a:prstGeom>
          <a:solidFill>
            <a:srgbClr val="401060"/>
          </a:solidFill>
          <a:ln w="15240">
            <a:solidFill>
              <a:srgbClr val="401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7" y="1591056"/>
            <a:ext cx="34381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4,012,672 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196596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</a:rPr>
              <a:t>Backbone: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2221992"/>
            <a:ext cx="3529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MBConv Blocks
Compound Scaling (depth+width+res)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269748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</a:rPr>
              <a:t>Head: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7" y="2953512"/>
            <a:ext cx="3529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AdaptiveAvgPool → Dropout → Linear(4)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342900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</a:rPr>
              <a:t>Strength: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7" y="3685032"/>
            <a:ext cx="3529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Best accuracy/parameter ratio; all classes F1 ≥ 98%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79" y="4937760"/>
            <a:ext cx="3749039" cy="777240"/>
          </a:xfrm>
          <a:prstGeom prst="rect">
            <a:avLst/>
          </a:prstGeom>
          <a:solidFill>
            <a:srgbClr val="05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7" y="4965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Test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79" y="4965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7B2FBE"/>
                </a:solidFill>
              </a:rPr>
              <a:t>98.23%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7" y="52852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Macro F1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79" y="5285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7B2FBE"/>
                </a:solidFill>
              </a:rPr>
              <a:t>98.76%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38" y="960120"/>
            <a:ext cx="3749039" cy="4754880"/>
          </a:xfrm>
          <a:prstGeom prst="rect">
            <a:avLst/>
          </a:prstGeom>
          <a:solidFill>
            <a:srgbClr val="0D1B3E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38" y="960120"/>
            <a:ext cx="3749039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6" y="1088136"/>
            <a:ext cx="352958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</a:rPr>
              <a:t>🔬  ResNet-18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0766" y="1554480"/>
            <a:ext cx="3529583" cy="274320"/>
          </a:xfrm>
          <a:prstGeom prst="rect">
            <a:avLst/>
          </a:prstGeom>
          <a:solidFill>
            <a:srgbClr val="603000"/>
          </a:solidFill>
          <a:ln w="15240">
            <a:solidFill>
              <a:srgbClr val="60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6" y="1591056"/>
            <a:ext cx="34381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11,178,564 params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6" y="196596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</a:rPr>
              <a:t>Backbone: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6" y="2221992"/>
            <a:ext cx="3529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Residual Skip Connections
4 × BasicBlock layers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6" y="269748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</a:rPr>
              <a:t>Head: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6" y="2953512"/>
            <a:ext cx="3529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AdaptiveAvgPool → Linear(4)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6" y="342900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</a:rPr>
              <a:t>Strength: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6" y="3685032"/>
            <a:ext cx="3529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Highest MCC (0.9743); fastest latency (1.77ms/img)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38" y="4937760"/>
            <a:ext cx="3749039" cy="777240"/>
          </a:xfrm>
          <a:prstGeom prst="rect">
            <a:avLst/>
          </a:prstGeom>
          <a:solidFill>
            <a:srgbClr val="05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0766" y="4965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Test Accuracy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38" y="4965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8C00"/>
                </a:solidFill>
              </a:rPr>
              <a:t>98.44%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6" y="52852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Macro F1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38" y="5285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8C00"/>
                </a:solidFill>
              </a:rPr>
              <a:t>98.60%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Training Setup &amp;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029200" cy="507492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241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🖥️  Hardware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84632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GPU: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72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NVIDIA RTX 3050 Laptop (4 GB VRAM)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4846320" cy="59436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3113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CUDA: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311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Version 12.4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79776"/>
            <a:ext cx="484632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95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Framework: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8895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PyTorch (AMP — Automatic Mixed Precision)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38144"/>
            <a:ext cx="4846320" cy="59436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Python: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547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96512"/>
            <a:ext cx="484632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OS: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2062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Windows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4846320" cy="59436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646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Precision: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8646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FP16 AMP 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960120"/>
            <a:ext cx="6309360" cy="507492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102412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⚙️  Hyperparameter Configuration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1463040"/>
            <a:ext cx="621792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15179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Epochs: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151790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25 (early stopping monitored)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1892808"/>
            <a:ext cx="6217920" cy="402336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1947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Batch Size: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9476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2322576"/>
            <a:ext cx="621792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Learning Rate: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377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 × 10⁻⁴ (Adam optimizer)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2752344"/>
            <a:ext cx="6217920" cy="402336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2807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Weight Decay: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80720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 × 10⁻⁴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3560" y="3182112"/>
            <a:ext cx="621792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32369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Loss Function: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23697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Weighted Cross-Entropy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3611880"/>
            <a:ext cx="6217920" cy="402336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36667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Class Weights: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666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Inversely proportional to frequency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041648"/>
            <a:ext cx="621792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5000" y="4096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LR Scheduler: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09651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ReduceLROnPlateau (patience=5)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3560" y="4471416"/>
            <a:ext cx="6217920" cy="402336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15000" y="4526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Random Seed: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526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42 (reproducible)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4901184"/>
            <a:ext cx="621792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0" y="4956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Pretrained: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495604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ImageNet weights (all 3 models)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5330952"/>
            <a:ext cx="6217920" cy="402336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5000" y="53858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Fine-tuning: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538581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Full network (all layers unfrozen)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Why accuracy alone is insufficient for an imbalanced medical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03320" cy="141732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703320" cy="457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3483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📊 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3619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Fraction of correctly classified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50876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E576"/>
                </a:solidFill>
              </a:rPr>
              <a:t>93–98%
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240280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✓ Misleading under class imbalance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703320" cy="141732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703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188720"/>
            <a:ext cx="3483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⚖️  Balanced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53619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Average recall across all classes
= macro-averaged 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50876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</a:rPr>
              <a:t>94–99%
achieved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240280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✓ Robust to imbalance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97280"/>
            <a:ext cx="3703320" cy="1417320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097280"/>
            <a:ext cx="3703320" cy="457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188720"/>
            <a:ext cx="3483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</a:rPr>
              <a:t>🎯  Macro F1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53619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Harmonic mean of precision &amp; recall,
averaging equally across all 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150876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B2FBE"/>
                </a:solidFill>
              </a:rPr>
              <a:t>94–99%
achieved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2240280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✓ Primary ranking metric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51760"/>
            <a:ext cx="3703320" cy="1417320"/>
          </a:xfrm>
          <a:prstGeom prst="rect">
            <a:avLst/>
          </a:prstGeom>
          <a:solidFill>
            <a:srgbClr val="0D1B3E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51760"/>
            <a:ext cx="37033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743200"/>
            <a:ext cx="3483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🔢  Matthews CC (MCC)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09067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Single scalar accounting for all 4
confusion matrix quadrants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06324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8C00"/>
                </a:solidFill>
              </a:rPr>
              <a:t>0.887–0.974
achieved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794760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✓ Best for multi-class imbalance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651760"/>
            <a:ext cx="3703320" cy="1417320"/>
          </a:xfrm>
          <a:prstGeom prst="rect">
            <a:avLst/>
          </a:prstGeom>
          <a:solidFill>
            <a:srgbClr val="0D1B3E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2651760"/>
            <a:ext cx="370332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2743200"/>
            <a:ext cx="3483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📈  ROC-AUC (macro OvR)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09067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Area under ROC curve — probability
that model ranks positives above negatives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06324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700"/>
                </a:solidFill>
              </a:rPr>
              <a:t>0.9936–0.9991
achieved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794760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✓ Near-perfect discrimination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2651760"/>
            <a:ext cx="3703320" cy="141732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2651760"/>
            <a:ext cx="3703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2168" y="2743200"/>
            <a:ext cx="3483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📉  ECE / Brier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309067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Calibration quality: are confidence
scores reliable probability estimates?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306324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</a:rPr>
              <a:t>Post temp.
scaling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3794760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✓ Reliability of confidence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Model Comparison — Held-Out Test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960-image held-out test set  ·  Seed 42  ·  0 hash-overlap with train/val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691640" cy="384048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280160"/>
            <a:ext cx="1581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234440"/>
            <a:ext cx="1097280" cy="384048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0824" y="1280160"/>
            <a:ext cx="987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234440"/>
            <a:ext cx="1143000" cy="384048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1280160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1143000" cy="384048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1280160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Macro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1234440"/>
            <a:ext cx="1417320" cy="384048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4104" y="1280160"/>
            <a:ext cx="1307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Balanced 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234440"/>
            <a:ext cx="1005840" cy="384048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424" y="1280160"/>
            <a:ext cx="896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234440"/>
            <a:ext cx="1143000" cy="384048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1280160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234440"/>
            <a:ext cx="1143000" cy="384048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0264" y="1280160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618488"/>
            <a:ext cx="169164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1728216"/>
            <a:ext cx="1581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MobileNetV2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1618488"/>
            <a:ext cx="109728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0824" y="1728216"/>
            <a:ext cx="987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2.23M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618488"/>
            <a:ext cx="114300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8104" y="1728216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93.13%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1618488"/>
            <a:ext cx="114300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1728216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94.34%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1618488"/>
            <a:ext cx="141732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4104" y="1728216"/>
            <a:ext cx="1307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94.25%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1618488"/>
            <a:ext cx="100584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1424" y="1728216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0.887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1618488"/>
            <a:ext cx="114300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27264" y="1728216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0.9936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1618488"/>
            <a:ext cx="114300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0264" y="1728216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2.93ms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276856"/>
            <a:ext cx="1691640" cy="621792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386584"/>
            <a:ext cx="1581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2FBE"/>
                </a:solidFill>
              </a:rPr>
              <a:t>EfficientNet-B0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2276856"/>
            <a:ext cx="1097280" cy="621792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2386584"/>
            <a:ext cx="987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4.01M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2276856"/>
            <a:ext cx="1143000" cy="621792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18104" y="2386584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98.23%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276856"/>
            <a:ext cx="1143000" cy="621792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61104" y="2386584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98.76%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49240" y="2276856"/>
            <a:ext cx="1417320" cy="621792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4104" y="2386584"/>
            <a:ext cx="1307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99.03%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2276856"/>
            <a:ext cx="1005840" cy="621792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21424" y="2386584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0.971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2276856"/>
            <a:ext cx="1143000" cy="621792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27264" y="2386584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0.9989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2276856"/>
            <a:ext cx="1143000" cy="621792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70264" y="2386584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2.20ms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935224"/>
            <a:ext cx="169164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" y="3044952"/>
            <a:ext cx="1581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ResNet-18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65960" y="2935224"/>
            <a:ext cx="109728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3044952"/>
            <a:ext cx="987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11.18M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2935224"/>
            <a:ext cx="114300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18104" y="3044952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98.44%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2935224"/>
            <a:ext cx="114300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61104" y="3044952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98.60%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49240" y="2935224"/>
            <a:ext cx="141732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4104" y="3044952"/>
            <a:ext cx="1307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98.29%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66560" y="2935224"/>
            <a:ext cx="100584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21424" y="3044952"/>
            <a:ext cx="896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0.974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2935224"/>
            <a:ext cx="114300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27264" y="3044952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</a:rPr>
              <a:t>0.9991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15400" y="2935224"/>
            <a:ext cx="1143000" cy="6217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70264" y="3044952"/>
            <a:ext cx="1033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1.77ms</a:t>
            </a:r>
          </a:p>
        </p:txBody>
      </p:sp>
      <p:pic>
        <p:nvPicPr>
          <p:cNvPr id="69" name="Picture 68" descr="overal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108960"/>
            <a:ext cx="7772400" cy="256032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8138160" y="3108960"/>
            <a:ext cx="3749039" cy="256032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3200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📌  Key Observations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36118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ResNet-18 achieves highest MCC (0.974) and ROC-AUC (0.9991)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40142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EfficientNet-B0 achieves highest Balanced Accuracy (99.03%)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44165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All 3 models achieve 100% Moderate Demented F1 despite only 9 test samples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48188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&gt;68% of all errors occur at Non-Demented ↔ Very Mild boundary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52212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No single declared 'winner' — ensemble provides reliability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Confusion Matrices — All 3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Held-out test set (960 images)  ·  Moderate class: 9 test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MobileNetV2</a:t>
            </a:r>
          </a:p>
        </p:txBody>
      </p:sp>
      <p:pic>
        <p:nvPicPr>
          <p:cNvPr id="6" name="Picture 5" descr="mobilenet_v2_t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63040"/>
            <a:ext cx="365760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532120"/>
            <a:ext cx="2377440" cy="274320"/>
          </a:xfrm>
          <a:prstGeom prst="rect">
            <a:avLst/>
          </a:prstGeom>
          <a:solidFill>
            <a:srgbClr val="FF4C4C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686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66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8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2FBE"/>
                </a:solidFill>
              </a:rPr>
              <a:t>EfficientNet-B0</a:t>
            </a:r>
          </a:p>
        </p:txBody>
      </p:sp>
      <p:pic>
        <p:nvPicPr>
          <p:cNvPr id="10" name="Picture 9" descr="efficientnet_b0_t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463040"/>
            <a:ext cx="3657600" cy="40233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73168" y="5532120"/>
            <a:ext cx="2377440" cy="274320"/>
          </a:xfrm>
          <a:prstGeom prst="rect">
            <a:avLst/>
          </a:prstGeom>
          <a:solidFill>
            <a:srgbClr val="FF8C00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55686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17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6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C00"/>
                </a:solidFill>
              </a:rPr>
              <a:t>ResNet-18</a:t>
            </a:r>
          </a:p>
        </p:txBody>
      </p:sp>
      <p:pic>
        <p:nvPicPr>
          <p:cNvPr id="14" name="Picture 13" descr="resnet18_test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1463040"/>
            <a:ext cx="3657600" cy="40233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677656" y="5532120"/>
            <a:ext cx="2377440" cy="274320"/>
          </a:xfrm>
          <a:prstGeom prst="rect">
            <a:avLst/>
          </a:prstGeom>
          <a:solidFill>
            <a:srgbClr val="00E576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55686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15 errors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897880"/>
            <a:ext cx="11612880" cy="320040"/>
          </a:xfrm>
          <a:prstGeom prst="rect">
            <a:avLst/>
          </a:prstGeom>
          <a:solidFill>
            <a:srgbClr val="1A1A0A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9253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700"/>
                </a:solidFill>
              </a:rPr>
              <a:t>⚠️  Note: Moderate Demented class has only 9 test samples — per-class metrics should be interpreted with caution. 100% Moderate F1 ≠ clinical certainty.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Grad-CAM Explainability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Gradient-weighted Class Activation Mapping — EfficientNet-B0 target layer: features[-1]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Non-Demented
(Correct)</a:t>
            </a:r>
          </a:p>
        </p:txBody>
      </p:sp>
      <p:pic>
        <p:nvPicPr>
          <p:cNvPr id="6" name="Picture 5" descr="non_1119_correc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34747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336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Very Mild Demented
(Correct)</a:t>
            </a:r>
          </a:p>
        </p:txBody>
      </p:sp>
      <p:pic>
        <p:nvPicPr>
          <p:cNvPr id="8" name="Picture 7" descr="verymild_44_correc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508760"/>
            <a:ext cx="347472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Mild Demented
(Correct)</a:t>
            </a:r>
          </a:p>
        </p:txBody>
      </p:sp>
      <p:pic>
        <p:nvPicPr>
          <p:cNvPr id="10" name="Picture 9" descr="mild_430_correct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08760"/>
            <a:ext cx="347472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881360" y="1097280"/>
            <a:ext cx="1005840" cy="3154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99648" y="1143000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99648" y="148132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C4C"/>
                </a:solidFill>
              </a:rPr>
              <a:t>■ Red/Yellow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9648" y="1755648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HIGH
contrib.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9648" y="239572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76"/>
                </a:solidFill>
              </a:rPr>
              <a:t>■ 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9648" y="2670048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MED
contrib.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99648" y="331012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0FF"/>
                </a:solidFill>
              </a:rPr>
              <a:t>■ Blue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99648" y="3584448"/>
            <a:ext cx="969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LOW
contrib.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34840"/>
            <a:ext cx="11612880" cy="1691640"/>
          </a:xfrm>
          <a:prstGeom prst="rect">
            <a:avLst/>
          </a:prstGeom>
          <a:solidFill>
            <a:srgbClr val="05152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4988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How to Read This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92040"/>
            <a:ext cx="1143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Grad-CAM highlights image regions that contributed to the selected model's prediction.  Warmer colours (red/yellow) = higher gradient magnitude at that spatial location; cooler colours (blue) = low contribution.  These maps reveal WHAT the model attended to — they are model-attribution visualizations, NOT medical biomarker detections.  Grad-CAM does not identify Alzheimer's plaques or clinical biomarkers.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Calibration &amp; Error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852160" cy="507492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241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🌡️  Calibration (Temperature Scaling)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577840" cy="9144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819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MobileNetV2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828800"/>
            <a:ext cx="1097280" cy="237744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86537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T=1.27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828800"/>
            <a:ext cx="1097280" cy="237744"/>
          </a:xfrm>
          <a:prstGeom prst="rect">
            <a:avLst/>
          </a:prstGeom>
          <a:solidFill>
            <a:srgbClr val="004422"/>
          </a:solidFill>
          <a:ln w="15240">
            <a:solidFill>
              <a:srgbClr val="00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86537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ECE=0.041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828800"/>
            <a:ext cx="1097280" cy="237744"/>
          </a:xfrm>
          <a:prstGeom prst="rect">
            <a:avLst/>
          </a:prstGeom>
          <a:solidFill>
            <a:srgbClr val="442200"/>
          </a:solidFill>
          <a:ln w="15240">
            <a:solidFill>
              <a:srgbClr val="44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6537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Brier=0.128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5577840" cy="914400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5877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</a:rPr>
              <a:t>EfficientNet-B0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834640"/>
            <a:ext cx="1097280" cy="237744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87121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T=1.14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2834640"/>
            <a:ext cx="1097280" cy="237744"/>
          </a:xfrm>
          <a:prstGeom prst="rect">
            <a:avLst/>
          </a:prstGeom>
          <a:solidFill>
            <a:srgbClr val="004422"/>
          </a:solidFill>
          <a:ln w="15240">
            <a:solidFill>
              <a:srgbClr val="00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287121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ECE=0.012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2834640"/>
            <a:ext cx="1097280" cy="237744"/>
          </a:xfrm>
          <a:prstGeom prst="rect">
            <a:avLst/>
          </a:prstGeom>
          <a:solidFill>
            <a:srgbClr val="442200"/>
          </a:solidFill>
          <a:ln w="15240">
            <a:solidFill>
              <a:srgbClr val="44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87121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Brier=0.031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5577840" cy="914400"/>
          </a:xfrm>
          <a:prstGeom prst="rect">
            <a:avLst/>
          </a:prstGeom>
          <a:solidFill>
            <a:srgbClr val="0D1B3E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5935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ResNet-18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840480"/>
            <a:ext cx="1097280" cy="237744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387705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T=1.08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3840480"/>
            <a:ext cx="1097280" cy="237744"/>
          </a:xfrm>
          <a:prstGeom prst="rect">
            <a:avLst/>
          </a:prstGeom>
          <a:solidFill>
            <a:srgbClr val="004422"/>
          </a:solidFill>
          <a:ln w="15240">
            <a:solidFill>
              <a:srgbClr val="004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387705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ECE=0.009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840480"/>
            <a:ext cx="1097280" cy="237744"/>
          </a:xfrm>
          <a:prstGeom prst="rect">
            <a:avLst/>
          </a:prstGeom>
          <a:solidFill>
            <a:srgbClr val="442200"/>
          </a:solidFill>
          <a:ln w="15240">
            <a:solidFill>
              <a:srgbClr val="44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87705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Brier=0.027</a:t>
            </a:r>
          </a:p>
        </p:txBody>
      </p:sp>
      <p:pic>
        <p:nvPicPr>
          <p:cNvPr id="30" name="Picture 29" descr="all_models_reliabil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657600"/>
            <a:ext cx="5669280" cy="23317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400800" y="960120"/>
            <a:ext cx="5486400" cy="5074920"/>
          </a:xfrm>
          <a:prstGeom prst="rect">
            <a:avLst/>
          </a:prstGeom>
          <a:solidFill>
            <a:srgbClr val="0D1B3E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1024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C4C"/>
                </a:solidFill>
              </a:rPr>
              <a:t>❌  Error Analysis Summary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481328"/>
            <a:ext cx="5303520" cy="566928"/>
          </a:xfrm>
          <a:prstGeom prst="rect">
            <a:avLst/>
          </a:prstGeom>
          <a:solidFill>
            <a:srgbClr val="2A080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591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MobileNetV2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1591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4C4C"/>
                </a:solidFill>
              </a:rPr>
              <a:t>66 errors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103120"/>
            <a:ext cx="5303520" cy="566928"/>
          </a:xfrm>
          <a:prstGeom prst="rect">
            <a:avLst/>
          </a:prstGeom>
          <a:solidFill>
            <a:srgbClr val="2A0808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2128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EfficientNet-B0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2128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4C4C"/>
                </a:solidFill>
              </a:rPr>
              <a:t>17 errors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724912"/>
            <a:ext cx="5303520" cy="566928"/>
          </a:xfrm>
          <a:prstGeom prst="rect">
            <a:avLst/>
          </a:prstGeom>
          <a:solidFill>
            <a:srgbClr val="2A0808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28346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ResNet-18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2834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4C4C"/>
                </a:solidFill>
              </a:rPr>
              <a:t>15 errors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456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Error Distribution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85876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&gt;68% of errors occur at Non-Demented ↔ Very Mild boundary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33425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These are the most clinically ambiguous class transitions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80974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Moderate Demented: 0 errors (EfficientNet, ResNet) despite 9 test samples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2852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MobileNetV2 concentrates errors in Very Mild class</a:t>
            </a:r>
          </a:p>
        </p:txBody>
      </p:sp>
      <p:pic>
        <p:nvPicPr>
          <p:cNvPr id="47" name="Picture 46" descr="efficientnet_b0_error_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5760720"/>
            <a:ext cx="5486400" cy="82296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Robustness Stress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Performance under 5 categories of image perturbation — held-out test set</a:t>
            </a:r>
          </a:p>
        </p:txBody>
      </p:sp>
      <p:pic>
        <p:nvPicPr>
          <p:cNvPr id="5" name="Picture 4" descr="model_robustne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3152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051560"/>
            <a:ext cx="4114800" cy="3931920"/>
          </a:xfrm>
          <a:prstGeom prst="rect">
            <a:avLst/>
          </a:prstGeom>
          <a:solidFill>
            <a:srgbClr val="0D1B3E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11155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🔬  Perturbation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554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Gaussian Noise: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8288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Simulates sensor noise / low SNR MRI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22199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Gaussian Blur: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4963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Simulates motion artefacts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88950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Brightness Shift: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316382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Simulates scanner calibration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355701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Contrast Shift: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38313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Simulates image acquisition variation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42245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Rotation: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44988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Simulates positioning variation ±30°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66360"/>
            <a:ext cx="11612880" cy="548640"/>
          </a:xfrm>
          <a:prstGeom prst="rect">
            <a:avLst/>
          </a:prstGeom>
          <a:solidFill>
            <a:srgbClr val="1A0808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2303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D700"/>
                </a:solidFill>
              </a:rPr>
              <a:t>⚠️  Honest Limitations: All 3 models show performance degradation under heavy perturbations. This is expected behaviour for models trained on clean clinical MRI data. Robustness results reflect research-prototype behaviour, NOT clinical deployment readiness.</a:t>
            </a:r>
          </a:p>
        </p:txBody>
      </p:sp>
      <p:pic>
        <p:nvPicPr>
          <p:cNvPr id="20" name="Picture 19" descr="noise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779008"/>
            <a:ext cx="3657600" cy="914400"/>
          </a:xfrm>
          <a:prstGeom prst="rect">
            <a:avLst/>
          </a:prstGeom>
        </p:spPr>
      </p:pic>
      <p:pic>
        <p:nvPicPr>
          <p:cNvPr id="21" name="Picture 20" descr="blur_robust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5779008"/>
            <a:ext cx="3657600" cy="914400"/>
          </a:xfrm>
          <a:prstGeom prst="rect">
            <a:avLst/>
          </a:prstGeom>
        </p:spPr>
      </p:pic>
      <p:pic>
        <p:nvPicPr>
          <p:cNvPr id="22" name="Picture 21" descr="rotation_robust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5779008"/>
            <a:ext cx="3657600" cy="9144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Input-Domain Safeguard (OOD Rejection)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8-stage multi-feature brain MRI domain screening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200400" cy="585216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640080" cy="365760"/>
          </a:xfrm>
          <a:prstGeom prst="rect">
            <a:avLst/>
          </a:prstGeom>
          <a:solidFill>
            <a:srgbClr val="00D4F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521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Aspect Ratio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133856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0.55–1.80 accept 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73352"/>
            <a:ext cx="3200400" cy="585216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640080" cy="365760"/>
          </a:xfrm>
          <a:prstGeom prst="rect">
            <a:avLst/>
          </a:prstGeom>
          <a:solidFill>
            <a:srgbClr val="7B2FB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196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6479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2FBE"/>
                </a:solidFill>
              </a:rPr>
              <a:t>Chroma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80136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Reject RGB colour photos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40864"/>
            <a:ext cx="3200400" cy="585216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450592"/>
            <a:ext cx="640080" cy="365760"/>
          </a:xfrm>
          <a:prstGeom prst="rect">
            <a:avLst/>
          </a:prstGeom>
          <a:solidFill>
            <a:srgbClr val="00D4F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48716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3230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Border Darkness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46888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Brain MRI has dark perimeter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08376"/>
            <a:ext cx="3200400" cy="585216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18104"/>
            <a:ext cx="640080" cy="365760"/>
          </a:xfrm>
          <a:prstGeom prst="rect">
            <a:avLst/>
          </a:prstGeom>
          <a:solidFill>
            <a:srgbClr val="7B2FB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546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09981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2FBE"/>
                </a:solidFill>
              </a:rPr>
              <a:t>Corner Air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136392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Brain MRI has dark corners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75888"/>
            <a:ext cx="3200400" cy="585216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785616"/>
            <a:ext cx="640080" cy="365760"/>
          </a:xfrm>
          <a:prstGeom prst="rect">
            <a:avLst/>
          </a:prstGeom>
          <a:solidFill>
            <a:srgbClr val="00D4F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2219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Stage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76732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Tissue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803904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Foreground: 28%–68%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43400"/>
            <a:ext cx="3200400" cy="585216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453128"/>
            <a:ext cx="640080" cy="365760"/>
          </a:xfrm>
          <a:prstGeom prst="rect">
            <a:avLst/>
          </a:prstGeom>
          <a:solidFill>
            <a:srgbClr val="7B2FB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48970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Stage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43484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2FBE"/>
                </a:solidFill>
              </a:rPr>
              <a:t>Central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471416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Center mean ≥ 45, contrast ≥ 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10912"/>
            <a:ext cx="3200400" cy="585216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120640"/>
            <a:ext cx="640080" cy="365760"/>
          </a:xfrm>
          <a:prstGeom prst="rect">
            <a:avLst/>
          </a:prstGeom>
          <a:solidFill>
            <a:srgbClr val="00D4F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1572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Stage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10235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Skull Geometry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13892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Width/height ratio 0.68–1.42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78424"/>
            <a:ext cx="3200400" cy="585216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788152"/>
            <a:ext cx="640080" cy="365760"/>
          </a:xfrm>
          <a:prstGeom prst="rect">
            <a:avLst/>
          </a:prstGeom>
          <a:solidFill>
            <a:srgbClr val="7B2FB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82472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Stage 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76986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2FBE"/>
                </a:solidFill>
              </a:rPr>
              <a:t>Hemispheric Sym.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80644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Bilateral symmetry check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39" y="1005840"/>
            <a:ext cx="4114800" cy="53492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86200" y="10789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✅  ACCEPTED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14813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Brain MRI scans (any stage)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6200" y="18470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All 6,400 training images → 0 false rejections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22128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All 12 curated demo samples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24688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C4C"/>
                </a:solidFill>
              </a:rPr>
              <a:t>⛔  REJECTED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86200" y="290779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Dog / cat / animal photos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86200" y="325526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Human photographs / portraits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86200" y="36027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Digital artwork / AI-generated brain art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395020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Chest CT / lung scans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429768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Spine / knee / extremity MRI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86200" y="464515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X-rays and unrelated medical images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86200" y="499262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C00"/>
                </a:solidFill>
              </a:rPr>
              <a:t>🐶 → Nice dog. Wrong project. 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1005840"/>
            <a:ext cx="3931920" cy="2377440"/>
          </a:xfrm>
          <a:prstGeom prst="rect">
            <a:avLst/>
          </a:prstGeom>
          <a:solidFill>
            <a:srgbClr val="2A0A0A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10789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C4C"/>
                </a:solidFill>
              </a:rPr>
              <a:t>UI Warning shown on rejection: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14447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C4C"/>
                </a:solidFill>
              </a:rPr>
              <a:t>"Input rejected"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182880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"This image does not appear to be
a suitable brain MRI for this
research model.
Please upload a brain MRI image."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3520440"/>
            <a:ext cx="3931920" cy="2834640"/>
          </a:xfrm>
          <a:prstGeom prst="rect">
            <a:avLst/>
          </a:prstGeom>
          <a:solidFill>
            <a:srgbClr val="0A2218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3584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✅  Empirical Validation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0" y="40050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6,400 / 6,400 training images → PASS (0 false rejections)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444398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12 / 12 demo scans → PASS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488289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13 OOD categories all → REJECT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532180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49 / 49 automated tests passing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60" y="57607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 Academic input-domain safeguard — not a universal OOD detector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Streamlit Application — 8-Page Research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5394960" cy="713232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060704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🏠 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18872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Project summary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05840"/>
            <a:ext cx="5394960" cy="713232"/>
          </a:xfrm>
          <a:prstGeom prst="rect">
            <a:avLst/>
          </a:prstGeom>
          <a:solidFill>
            <a:srgbClr val="0D1B3E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8" y="1060704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</a:rPr>
              <a:t>🧠  MRI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18872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Upload / demo scan → 3-model prediction + Grad-CAM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5394960" cy="713232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883664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📊  Model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01168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Side-by-side metric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828800"/>
            <a:ext cx="5394960" cy="713232"/>
          </a:xfrm>
          <a:prstGeom prst="rect">
            <a:avLst/>
          </a:prstGeom>
          <a:solidFill>
            <a:srgbClr val="0D1B3E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1883664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📈 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01168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ROC curves, confusion matrices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5394960" cy="713232"/>
          </a:xfrm>
          <a:prstGeom prst="rect">
            <a:avLst/>
          </a:prstGeom>
          <a:solidFill>
            <a:srgbClr val="0D1B3E"/>
          </a:solidFill>
          <a:ln w="1524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706624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FF"/>
                </a:solidFill>
              </a:rPr>
              <a:t>🔍  Explainability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83464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Grad-CAM library for all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651760"/>
            <a:ext cx="5394960" cy="713232"/>
          </a:xfrm>
          <a:prstGeom prst="rect">
            <a:avLst/>
          </a:prstGeom>
          <a:solidFill>
            <a:srgbClr val="0D1B3E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2706624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C4C"/>
                </a:solidFill>
              </a:rPr>
              <a:t>🛡️  Error &amp;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83464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Error analysis + perturbation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74720"/>
            <a:ext cx="5394960" cy="713232"/>
          </a:xfrm>
          <a:prstGeom prst="rect">
            <a:avLst/>
          </a:prstGeom>
          <a:solidFill>
            <a:srgbClr val="0D1B3E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529584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📖  Methodology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65760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Training pipeline documentation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474720"/>
            <a:ext cx="5394960" cy="713232"/>
          </a:xfrm>
          <a:prstGeom prst="rect">
            <a:avLst/>
          </a:prstGeom>
          <a:solidFill>
            <a:srgbClr val="0D1B3E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3529584"/>
            <a:ext cx="1645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ℹ️  About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65760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Team, technology, academic framing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120640"/>
            <a:ext cx="11521440" cy="59436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937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🛠️  Technology Stack: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5193792"/>
            <a:ext cx="1051560" cy="274320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523036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Streamlit 1.x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67328" y="5193792"/>
            <a:ext cx="1051560" cy="274320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3048" y="523036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82896" y="5193792"/>
            <a:ext cx="1051560" cy="274320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28616" y="523036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Grad-CAM (custom)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98464" y="5193792"/>
            <a:ext cx="1051560" cy="274320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44184" y="523036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Pillow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4032" y="5193792"/>
            <a:ext cx="1051560" cy="274320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9752" y="523036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5193792"/>
            <a:ext cx="1051560" cy="274320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523036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Matplotlib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5168" y="5193792"/>
            <a:ext cx="1051560" cy="274320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90888" y="523036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Plotly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60736" y="5193792"/>
            <a:ext cx="1051560" cy="274320"/>
          </a:xfrm>
          <a:prstGeom prst="rect">
            <a:avLst/>
          </a:prstGeom>
          <a:solidFill>
            <a:srgbClr val="004060"/>
          </a:solidFill>
          <a:ln w="15240">
            <a:solidFill>
              <a:srgbClr val="0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06456" y="523036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806440"/>
            <a:ext cx="11521440" cy="384048"/>
          </a:xfrm>
          <a:prstGeom prst="rect">
            <a:avLst/>
          </a:prstGeom>
          <a:solidFill>
            <a:srgbClr val="05284A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85216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6"/>
                </a:solidFill>
              </a:rPr>
              <a:t>🌐  Live URL: https://alzheimer-xai-vijay.streamlit.app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Deployment &amp; Public Accessibility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011680" cy="13716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📁
Project
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60120"/>
            <a:ext cx="2011680" cy="1371600"/>
          </a:xfrm>
          <a:prstGeom prst="rect">
            <a:avLst/>
          </a:prstGeom>
          <a:solidFill>
            <a:srgbClr val="0D1B3E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➔
GitHub
Repository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960120"/>
            <a:ext cx="2011680" cy="1371600"/>
          </a:xfrm>
          <a:prstGeom prst="rect">
            <a:avLst/>
          </a:prstGeom>
          <a:solidFill>
            <a:srgbClr val="0D1B3E"/>
          </a:solidFill>
          <a:ln w="1524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B4B"/>
                </a:solidFill>
              </a:rPr>
              <a:t>➔
Streamlit
Community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960120"/>
            <a:ext cx="2011680" cy="13716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➔
Public
HTTPS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960120"/>
            <a:ext cx="2011680" cy="137160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005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➔
Any Device
(Browser)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14600"/>
            <a:ext cx="3794760" cy="23774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5786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📦  GitHub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718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Full source code, model training scripts,
tests and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7673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https://github.com/Vijatejas03/alzheimer-disease-detection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2514600"/>
            <a:ext cx="3794760" cy="23774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7" y="25786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☁️  Streamlit Community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7" y="29718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Free tier · Automatic CI/CD from main branch
Auto-scales with free compute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7" y="37673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https://alzheimer-xai-vijay.streamlit.app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8" y="2514600"/>
            <a:ext cx="3794760" cy="2377440"/>
          </a:xfrm>
          <a:prstGeom prst="rect">
            <a:avLst/>
          </a:prstGeom>
          <a:solidFill>
            <a:srgbClr val="0D1B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6" y="25786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🔒  Security Measures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6" y="29718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 secret exposure · OOD rejection safeguard
12 curated demo scans only (6,400 full dataset excluded)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6" y="37673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requirements.txt + .gitignore configured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514600"/>
            <a:ext cx="1828800" cy="1828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95360" y="4389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📱  Scan to open the live application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74920"/>
            <a:ext cx="11612880" cy="502920"/>
          </a:xfrm>
          <a:prstGeom prst="rect">
            <a:avLst/>
          </a:prstGeom>
          <a:solidFill>
            <a:srgbClr val="0A2218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389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76"/>
                </a:solidFill>
              </a:rPr>
              <a:t>🌐  https://alzheimer-xai-vijay.streamlit.app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</a:rPr>
              <a:t>Limitations  ·  Future Work  ·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657600" cy="4709160"/>
          </a:xfrm>
          <a:prstGeom prst="rect">
            <a:avLst/>
          </a:prstGeom>
          <a:solidFill>
            <a:srgbClr val="0D1B3E"/>
          </a:solidFill>
          <a:ln w="1524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241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C4C"/>
                </a:solidFill>
              </a:rPr>
              <a:t>⚠️ 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4630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Single-dataset evaluation (Kaggle MRI 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659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128×128 px resolution — lower than clinical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4688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Moderate class: 64 training, 9 test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9718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Models degrade under heavy perturbations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4747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OOD detector is domain-specific, not universal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9776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No multi-centre or prospective clinical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4805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Research prototype — NOT a medical diagnostic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960120"/>
            <a:ext cx="3794760" cy="4709160"/>
          </a:xfrm>
          <a:prstGeom prst="rect">
            <a:avLst/>
          </a:prstGeom>
          <a:solidFill>
            <a:srgbClr val="0D1B3E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02412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🚀  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4630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Train on ADNI / OASIS clinical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96596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3D volumetric MRI (ViT / 3D CNN)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46888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Integrate SHAP + LIME for multi-XAI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9718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Federated learning (privacy-preserving)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4747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Model compression / edge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9776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Longitudinal change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48056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 Clinical co-design &amp; prospective study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960120"/>
            <a:ext cx="3657600" cy="4709160"/>
          </a:xfrm>
          <a:prstGeom prst="rect">
            <a:avLst/>
          </a:prstGeom>
          <a:solidFill>
            <a:srgbClr val="0D1B3E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10241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✅  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146304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98.44% test accuracy with ResNet-18
(98.23% EfficientNet-B0)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14884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3-model consensus engine provides
cross-validated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83464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Grad-CAM attribution visualizations
enable research transparency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52044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Temperature-scaled calibration
improves confidence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20624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8-stage OOD safeguard: 0 false
rejections on 6,400 images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89204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Live deployable research prototype
at alzheimer-xai-vijay.streamlit.app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806440"/>
            <a:ext cx="12188952" cy="713232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85216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🙏  Thank You!   Questions &amp; Discussion  ·  Q&amp;A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943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🌐  alzheimer-xai-vijay.streamlit.app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019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Alzheimer's Disease Detection &amp; Explainability System  •  Final Year Engineering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